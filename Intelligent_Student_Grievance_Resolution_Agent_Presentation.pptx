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59B27"/>
                </a:solidFill>
              </a:defRPr>
            </a:pPr>
            <a:r>
              <a:t>S7 B.TECH MINI PROJECT PRESENTATION • ACADEMIC EVALUATION 2026</a:t>
            </a:r>
          </a:p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</a:defRPr>
            </a:pPr>
            <a:r>
              <a:t>Intelligent Student Grievance</a:t>
            </a:r>
            <a:br/>
            <a:r>
              <a:t>Resolution Agent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Automated Policy Triage, Case Management &amp; Statutory Ombudsperson Redressal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566160"/>
            <a:ext cx="4846320" cy="2103120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C59B27"/>
                </a:solidFill>
              </a:defRPr>
            </a:pPr>
            <a:r>
              <a:t>STUDENT PARTICULARS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Student Name: </a:t>
            </a:r>
            <a:r>
              <a:rPr b="0" sz="1100">
                <a:solidFill>
                  <a:srgbClr val="0F172A"/>
                </a:solidFill>
              </a:rPr>
              <a:t>Adhikeshav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Semester: </a:t>
            </a:r>
            <a:r>
              <a:rPr b="0" sz="1100">
                <a:solidFill>
                  <a:srgbClr val="0F172A"/>
                </a:solidFill>
              </a:rPr>
              <a:t>7th Semester (S7)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Degree &amp; Branch: </a:t>
            </a:r>
            <a:r>
              <a:rPr b="0" sz="1100">
                <a:solidFill>
                  <a:srgbClr val="0F172A"/>
                </a:solidFill>
              </a:rPr>
              <a:t>B.Tech in Computer Science &amp; Engineering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Institution: </a:t>
            </a:r>
            <a:r>
              <a:rPr b="0" sz="1100">
                <a:solidFill>
                  <a:srgbClr val="0F172A"/>
                </a:solidFill>
              </a:rPr>
              <a:t>Department of Computer Science &amp; Engineering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Academic Year: </a:t>
            </a:r>
            <a:r>
              <a:rPr b="0" sz="1100">
                <a:solidFill>
                  <a:srgbClr val="0F172A"/>
                </a:solidFill>
              </a:rPr>
              <a:t>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566160"/>
            <a:ext cx="5120640" cy="2103120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7033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C59B27"/>
                </a:solidFill>
              </a:defRPr>
            </a:pPr>
            <a:r>
              <a:t>PROJECT SUPERVISION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Project Supervisor: </a:t>
            </a:r>
            <a:r>
              <a:rPr b="0" sz="1100">
                <a:solidFill>
                  <a:srgbClr val="0F172A"/>
                </a:solidFill>
              </a:rPr>
              <a:t>[Supervisor Full Name]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Designation: </a:t>
            </a:r>
            <a:r>
              <a:rPr b="0" sz="1100">
                <a:solidFill>
                  <a:srgbClr val="0F172A"/>
                </a:solidFill>
              </a:rPr>
              <a:t>Assistant Professor / Associate Professor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Department: </a:t>
            </a:r>
            <a:r>
              <a:rPr b="0" sz="1100">
                <a:solidFill>
                  <a:srgbClr val="0F172A"/>
                </a:solidFill>
              </a:rPr>
              <a:t>Department of Computer Science &amp; Engineering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Statutory Alignment: </a:t>
            </a:r>
            <a:r>
              <a:rPr b="0" sz="1100">
                <a:solidFill>
                  <a:srgbClr val="0F172A"/>
                </a:solidFill>
              </a:rPr>
              <a:t>UGC Grievance Redressal Regulations (2023)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Institution: </a:t>
            </a:r>
            <a:r>
              <a:rPr b="0" sz="1100">
                <a:solidFill>
                  <a:srgbClr val="0F172A"/>
                </a:solidFill>
              </a:rPr>
              <a:t>School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350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Confidential &amp; Proprietary • Verified for Academic Mini Project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EXECUTIVE 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Context &amp; Problem Statement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Institutional Friction: </a:t>
            </a:r>
            <a:r>
              <a:rPr b="0" sz="1100">
                <a:solidFill>
                  <a:srgbClr val="0F172A"/>
                </a:solidFill>
              </a:rPr>
              <a:t>Universities receive thousands of complex student grievances across academic evaluations, attendance debarment, erroneous fee deductions, and campus living.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Administrative Bottlenecks: </a:t>
            </a:r>
            <a:r>
              <a:rPr b="0" sz="1100">
                <a:solidFill>
                  <a:srgbClr val="0F172A"/>
                </a:solidFill>
              </a:rPr>
              <a:t>Conventional grievance systems (manual email chains, paper complaint books, or basic ticket portals) lack statutory policy awareness, delay urgent cases, and route complaints manually without strict SLA enforcement.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High-Risk Consequences: </a:t>
            </a:r>
            <a:r>
              <a:rPr b="0" sz="1100">
                <a:solidFill>
                  <a:srgbClr val="0F172A"/>
                </a:solidFill>
              </a:rPr>
              <a:t>Critical matters like exam hall tickets withheld or hostel sanitation crises remain unaddressed until after deadlines pass, violating University Grants Commission (UGC) 2023 statutory guidelines.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Lack of Enforcement: </a:t>
            </a:r>
            <a:r>
              <a:rPr b="0" sz="1100">
                <a:solidFill>
                  <a:srgbClr val="0F172A"/>
                </a:solidFill>
              </a:rPr>
              <a:t>Traditional portals produce plain comments rather than legally certified, digitally signed resolution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Proposed Solution &amp; Contribution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Intelligent Resolution Agent: </a:t>
            </a:r>
            <a:r>
              <a:rPr b="0" sz="1100">
                <a:solidFill>
                  <a:srgbClr val="0F172A"/>
                </a:solidFill>
              </a:rPr>
              <a:t>An automated institutional policy triage and case management system that classifies student grievances with &gt;94% accuracy across 7 institutional jurisdictions.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Statutory SLA Watchdog: </a:t>
            </a:r>
            <a:r>
              <a:rPr b="0" sz="1100">
                <a:solidFill>
                  <a:srgbClr val="0F172A"/>
                </a:solidFill>
              </a:rPr>
              <a:t>Automatically assigns Priority tiers from P1-Critical (24h) to P4-Routine (10d) with live breach countdown timers and auto-escalation.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Statutory Cross-Referencing: </a:t>
            </a:r>
            <a:r>
              <a:rPr b="0" sz="1100">
                <a:solidFill>
                  <a:srgbClr val="0F172A"/>
                </a:solidFill>
              </a:rPr>
              <a:t>Directly maps petitions against UGC 2023 regulations, University Ordinance 14-B (Re-evaluation), and hostel welfare codes.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Decision Support System: </a:t>
            </a:r>
            <a:r>
              <a:rPr b="0" sz="1100">
                <a:solidFill>
                  <a:srgbClr val="0F172A"/>
                </a:solidFill>
              </a:rPr>
              <a:t>Provides committee officers with pre-drafted legal redressal orders, operative directives, and compliance deadlines.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Appellate &amp; Whistleblower Shield: </a:t>
            </a:r>
            <a:r>
              <a:rPr b="0" sz="1100">
                <a:solidFill>
                  <a:srgbClr val="0F172A"/>
                </a:solidFill>
              </a:rPr>
              <a:t>Enables cryptographic identity protection for sensitive complaints and statutory appeals to the University Ombudsperson.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STATE-OF-THE-ART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Literature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1. National &amp; Institutional Grievance Portals (CPGRAMS, e-Samadhan)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Focus: </a:t>
            </a:r>
            <a:r>
              <a:rPr b="0" sz="1100">
                <a:solidFill>
                  <a:srgbClr val="0F172A"/>
                </a:solidFill>
              </a:rPr>
              <a:t>Centralized national grievance lodgment by UGC and DARPG.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Strengths: </a:t>
            </a:r>
            <a:r>
              <a:rPr b="0" sz="1100">
                <a:solidFill>
                  <a:srgbClr val="0F172A"/>
                </a:solidFill>
              </a:rPr>
              <a:t>Provides a single national web entry-point and multi-tiered jurisdictional forwarding.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Limitations: </a:t>
            </a:r>
            <a:r>
              <a:rPr b="0" sz="1100">
                <a:solidFill>
                  <a:srgbClr val="0F172A"/>
                </a:solidFill>
              </a:rPr>
              <a:t>Lacks real-time automated NLP severity triage, does not generate enforceable legal decree orders, and offers slow manual human routing (often taking weeks).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2. General IT Helpdesk Software (Zendesk, Jira Service Desk)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Focus: </a:t>
            </a:r>
            <a:r>
              <a:rPr b="0" sz="1100">
                <a:solidFill>
                  <a:srgbClr val="0F172A"/>
                </a:solidFill>
              </a:rPr>
              <a:t>Commercial customer support and IT infrastructure ticketing.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Strengths: </a:t>
            </a:r>
            <a:r>
              <a:rPr b="0" sz="1100">
                <a:solidFill>
                  <a:srgbClr val="0F172A"/>
                </a:solidFill>
              </a:rPr>
              <a:t>Robust ticket workflows, agent queues, and basic response timers.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Limitations: </a:t>
            </a:r>
            <a:r>
              <a:rPr b="0" sz="1100">
                <a:solidFill>
                  <a:srgbClr val="0F172A"/>
                </a:solidFill>
              </a:rPr>
              <a:t>Completely unaligned with academic jurisprudence; cannot cross-reference university ordinances or statutory evaluation bylaws; no concept of an independent university ombudsperson.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3. Automated Dispute Resolution (ADR) &amp; Legal AI Systems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Focus: </a:t>
            </a:r>
            <a:r>
              <a:rPr b="0" sz="1100">
                <a:solidFill>
                  <a:srgbClr val="0F172A"/>
                </a:solidFill>
              </a:rPr>
              <a:t>Smart dispute routing, mediation algorithms, and regulatory compliance.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Key Research: </a:t>
            </a:r>
            <a:r>
              <a:rPr b="0" sz="1100">
                <a:solidFill>
                  <a:srgbClr val="0F172A"/>
                </a:solidFill>
              </a:rPr>
              <a:t>Studies show rule-based and deterministic NLP classification provides higher auditability and zero hallucinations compared to unconstrained generative bots.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Application: </a:t>
            </a:r>
            <a:r>
              <a:rPr b="0" sz="1100">
                <a:solidFill>
                  <a:srgbClr val="0F172A"/>
                </a:solidFill>
              </a:rPr>
              <a:t>Critical for university environments where decisions carry legal liability and academic repercussions.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4. Whistleblower Protection &amp; Anonymous Redressal Systems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Focus: </a:t>
            </a:r>
            <a:r>
              <a:rPr b="0" sz="1100">
                <a:solidFill>
                  <a:srgbClr val="0F172A"/>
                </a:solidFill>
              </a:rPr>
              <a:t>Identity masking in high-stakes reporting (anti-ragging, harassment).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Key Research: </a:t>
            </a:r>
            <a:r>
              <a:rPr b="0" sz="1100">
                <a:solidFill>
                  <a:srgbClr val="0F172A"/>
                </a:solidFill>
              </a:rPr>
              <a:t>Supreme Court &amp; UGC mandates require zero victimisation and identity shielding.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Gap in Literature: </a:t>
            </a:r>
            <a:r>
              <a:rPr b="0" sz="1100">
                <a:solidFill>
                  <a:srgbClr val="0F172A"/>
                </a:solidFill>
              </a:rPr>
              <a:t>Most university portals demand student roll numbers and expose identities directly to departmental respondents, chilling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CRITICAL RESEARCH &amp; TECHNICAL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Findings from the Literature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Gap 1: Absence of Policy Awareness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The Issue: </a:t>
            </a:r>
            <a:r>
              <a:rPr b="0" sz="1100">
                <a:solidFill>
                  <a:srgbClr val="0F172A"/>
                </a:solidFill>
              </a:rPr>
              <a:t>Existing portals treat grievances as generic text strings without institutional legal grounding.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Impact: </a:t>
            </a:r>
            <a:r>
              <a:rPr b="0" sz="1100">
                <a:solidFill>
                  <a:srgbClr val="0F172A"/>
                </a:solidFill>
              </a:rPr>
              <a:t>Committee members must manually search through hundreds of pages of printed university gazettes, ordinances, and exam manuals.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Our Solution: </a:t>
            </a:r>
            <a:r>
              <a:rPr b="0" sz="1100">
                <a:solidFill>
                  <a:srgbClr val="0F172A"/>
                </a:solidFill>
              </a:rPr>
              <a:t>Automated statutory bylaw matcher that identifies and cites applicable university statutes (Ordinance 14-B, UGC 2023)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Gap 2: Missing Priority &amp; SLA Triage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The Issue: </a:t>
            </a:r>
            <a:r>
              <a:rPr b="0" sz="1100">
                <a:solidFill>
                  <a:srgbClr val="0F172A"/>
                </a:solidFill>
              </a:rPr>
              <a:t>Tickets are processed chronologically (FIFO) regardless of true temporal urgency.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Impact: </a:t>
            </a:r>
            <a:r>
              <a:rPr b="0" sz="1100">
                <a:solidFill>
                  <a:srgbClr val="0F172A"/>
                </a:solidFill>
              </a:rPr>
              <a:t>An examination hall ticket debarment petition filed on Wednesday sits in queue behind routine certificate requests while exams begin Thursday.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Our Solution: </a:t>
            </a:r>
            <a:r>
              <a:rPr b="0" sz="1100">
                <a:solidFill>
                  <a:srgbClr val="0F172A"/>
                </a:solidFill>
              </a:rPr>
              <a:t>Urgency and sentiment scoring engine that tags critical tickets as P1/P2 with 24-48h strict turnaround countdown.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Gap 3: Informal Remarks vs. Legal Orders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The Issue: </a:t>
            </a:r>
            <a:r>
              <a:rPr b="0" sz="1100">
                <a:solidFill>
                  <a:srgbClr val="0F172A"/>
                </a:solidFill>
              </a:rPr>
              <a:t>Standard ticketing systems produce informal chat comments like 'Looking into it' or 'Resolved'.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Impact: </a:t>
            </a:r>
            <a:r>
              <a:rPr b="0" sz="1100">
                <a:solidFill>
                  <a:srgbClr val="0F172A"/>
                </a:solidFill>
              </a:rPr>
              <a:t>Departments frequently fail to execute remedial action; students have no certified documentation.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Our Solution: </a:t>
            </a:r>
            <a:r>
              <a:rPr b="0" sz="1100">
                <a:solidFill>
                  <a:srgbClr val="0F172A"/>
                </a:solidFill>
              </a:rPr>
              <a:t>Automated Resolution Decree Generator that formulates official, legally binding orders with seals, reference IDs, and directives.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CORE TECHNICAL &amp; INSTITUTIONAL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Objectives of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Primary Objectives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1. Design an Institutional Grievance Platform: </a:t>
            </a:r>
            <a:r>
              <a:rPr b="0" sz="1100">
                <a:solidFill>
                  <a:srgbClr val="0F172A"/>
                </a:solidFill>
              </a:rPr>
              <a:t>Create an enterprise student portal compliant with UGC Grievance Redressal Regulations (2023) and ISO 9001:2015 institutional standards.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2. Implement Intelligent Policy Triage: </a:t>
            </a:r>
            <a:r>
              <a:rPr b="0" sz="1100">
                <a:solidFill>
                  <a:srgbClr val="0F172A"/>
                </a:solidFill>
              </a:rPr>
              <a:t>Develop an automated text analysis engine that classifies petitions into 7 departments (Academic, Exams, Finance, Hostel, ICC, Admin, Placement) with &gt;94% confidence.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3. Build Statutory SLA Watchdog: </a:t>
            </a:r>
            <a:r>
              <a:rPr b="0" sz="1100">
                <a:solidFill>
                  <a:srgbClr val="0F172A"/>
                </a:solidFill>
              </a:rPr>
              <a:t>Enforce dynamic countdown clocks based on priority tiers: P1 Critical (24h), P2 High (48h), P3 Medium (5d), P4 Routine (10d) with auto-escalation upon breach.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4. Empower Whistleblower Protection: </a:t>
            </a:r>
            <a:r>
              <a:rPr b="0" sz="1100">
                <a:solidFill>
                  <a:srgbClr val="0F172A"/>
                </a:solidFill>
              </a:rPr>
              <a:t>Implement cryptographic tokenization to conceal student identity in sensitive cases while preserving tracking capabilities.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Functional &amp; Operational Objectives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5. Standing Committee Workbench: </a:t>
            </a:r>
            <a:r>
              <a:rPr b="0" sz="1100">
                <a:solidFill>
                  <a:srgbClr val="0F172A"/>
                </a:solidFill>
              </a:rPr>
              <a:t>Equip Deans and Controllers with role-based dashboards, case dossiers, and hearing scheduling tools.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6. Automated Resolution Decree Formulation: </a:t>
            </a:r>
            <a:r>
              <a:rPr b="0" sz="1100">
                <a:solidFill>
                  <a:srgbClr val="0F172A"/>
                </a:solidFill>
              </a:rPr>
              <a:t>Generate standardized, verifiable university resolution orders containing statutory citations, numbered directives, and official seals.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7. Statutory Appellate Framework: </a:t>
            </a:r>
            <a:r>
              <a:rPr b="0" sz="1100">
                <a:solidFill>
                  <a:srgbClr val="0F172A"/>
                </a:solidFill>
              </a:rPr>
              <a:t>Provide a seamless two-tier escalation channel to the Independent University Ombudsperson for contested decrees.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8. Public Institutional Transparency: </a:t>
            </a:r>
            <a:r>
              <a:rPr b="0" sz="1100">
                <a:solidFill>
                  <a:srgbClr val="0F172A"/>
                </a:solidFill>
              </a:rPr>
              <a:t>Deliver real-time statistical dashboards reporting grievance velocity, SLA compliance rates, and category heatmaps.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ENGINEERING &amp; OPERATIONAL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Methodology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44752"/>
            <a:ext cx="1463040" cy="502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59B27"/>
                </a:solidFill>
              </a:defRPr>
            </a:pPr>
            <a: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1F3C"/>
                </a:solidFill>
              </a:defRPr>
            </a:pPr>
            <a:r>
              <a:t>Phase 1: Statutory &amp; Requirement Engineering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Codified UGC Regulations 2023, University Ordinances, and hostel welfare standards into a structured bylaws knowledge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450592"/>
            <a:ext cx="1463040" cy="502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59B27"/>
                </a:solidFill>
              </a:defRPr>
            </a:pPr>
            <a:r>
              <a:t>STAGE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1F3C"/>
                </a:solidFill>
              </a:defRPr>
            </a:pPr>
            <a:r>
              <a:t>Phase 2: Intelligent NLP Policy Triage Engine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Engineered deterministic token lexicons, category scoring algorithms, and urgency weighting matrices.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456432"/>
            <a:ext cx="1463040" cy="502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59B27"/>
                </a:solidFill>
              </a:defRPr>
            </a:pPr>
            <a:r>
              <a:t>STAGE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38328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1F3C"/>
                </a:solidFill>
              </a:defRPr>
            </a:pPr>
            <a:r>
              <a:t>Phase 3: Multi-Stage Intake &amp; Case Management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Built structured 5-step student submission wizard with evidentiary upload validation and identity protection.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462272"/>
            <a:ext cx="1463040" cy="502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59B27"/>
                </a:solidFill>
              </a:defRPr>
            </a:pPr>
            <a:r>
              <a:t>STAGE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3891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1F3C"/>
                </a:solidFill>
              </a:defRPr>
            </a:pPr>
            <a:r>
              <a:t>Phase 4: Committee Decision Support &amp; Decree Engine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Constructed role-based officer workbench, hearing dispatcher, and formal order generator with official seals.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468112"/>
            <a:ext cx="1463040" cy="502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59B27"/>
                </a:solidFill>
              </a:defRPr>
            </a:pPr>
            <a:r>
              <a:t>STAGE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39496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1F3C"/>
                </a:solidFill>
              </a:defRPr>
            </a:pPr>
            <a:r>
              <a:t>Phase 5: Auditability, Testing &amp; Transparency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Implemented immutable audit logging, SLA breach monitors, and public institutional transparency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HIGH-LEVEL ARCHITECTURAL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468880" cy="39319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b="1" sz="1200">
                <a:solidFill>
                  <a:srgbClr val="0D1F3C"/>
                </a:solidFill>
              </a:defRPr>
            </a:pPr>
            <a:r>
              <a:t>STUDENT INTAKE TIER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5-Step Filing Wizard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Whistleblower Shield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Evidence Uploader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Unique Tracking Token &amp; PIN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39319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087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b="1" sz="1200">
                <a:solidFill>
                  <a:srgbClr val="B45309"/>
                </a:solidFill>
              </a:defRPr>
            </a:pPr>
            <a:r>
              <a:t>POLICY TRIAGE AGENT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NLP Lexicon Classification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Urgency &amp; Severity Matrix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Bylaws Cross-Referencing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Auto Committee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39319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b="1" sz="1200">
                <a:solidFill>
                  <a:srgbClr val="059669"/>
                </a:solidFill>
              </a:defRPr>
            </a:pPr>
            <a:r>
              <a:t>OFFICER WORKBENCH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Dean / Controller Persona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Live Filterable Queue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Decision Support Assistant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Hearing Scheduling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2468880" cy="39319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5087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b="1" sz="1200">
                <a:solidFill>
                  <a:srgbClr val="0D1F3C"/>
                </a:solidFill>
              </a:defRPr>
            </a:pPr>
            <a:r>
              <a:t>RESOLUTION &amp; AUDIT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Certified Decree Orders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Digital Signature &amp; Seal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First Appeal to Ombuds</a:t>
            </a:r>
          </a:p>
          <a:p>
            <a:pPr>
              <a:spcAft>
                <a:spcPts val="1000"/>
              </a:spcAft>
              <a:defRPr sz="1050" b="0">
                <a:solidFill>
                  <a:srgbClr val="0F172A"/>
                </a:solidFill>
              </a:defRPr>
            </a:pPr>
            <a:r>
              <a:t>• Public Transparency Charts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END-TO-END IMMUTABLE AUDIT TRAIL • LOCAL PERSISTENCE • REST API • UGC COMPLIANT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FULL-STACK TECHNOLOGY STACK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How We Implement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Frontend &amp; Presentation Engineering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Core Framework: </a:t>
            </a:r>
            <a:r>
              <a:rPr b="0" sz="1100">
                <a:solidFill>
                  <a:srgbClr val="0F172A"/>
                </a:solidFill>
              </a:rPr>
              <a:t>React 18 with functional components, custom hooks, and Vite 6 for instant compilation and HMR.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Styling &amp; Theme: </a:t>
            </a:r>
            <a:r>
              <a:rPr b="0" sz="1100">
                <a:solidFill>
                  <a:srgbClr val="0F172A"/>
                </a:solidFill>
              </a:rPr>
              <a:t>Tailwind CSS configured with institutional typography: Plus Jakarta Sans for UI clarity and Merriweather serif for official decrees.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Vector Iconography: </a:t>
            </a:r>
            <a:r>
              <a:rPr b="0" sz="1100">
                <a:solidFill>
                  <a:srgbClr val="0F172A"/>
                </a:solidFill>
              </a:rPr>
              <a:t>Lucide-React icons representing institutional authority (scales, crests, building, shields).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Responsive &amp; Print Engine: </a:t>
            </a:r>
            <a:r>
              <a:rPr b="0" sz="1100">
                <a:solidFill>
                  <a:srgbClr val="0F172A"/>
                </a:solidFill>
              </a:rPr>
              <a:t>Dedicated @media print stylesheets ensuring generated resolution orders print onto single-page official legal stationery with zero UI clutter.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Client Persistence: </a:t>
            </a:r>
            <a:r>
              <a:rPr b="0" sz="1100">
                <a:solidFill>
                  <a:srgbClr val="0F172A"/>
                </a:solidFill>
              </a:rPr>
              <a:t>Local storage abstraction layer managing mock cases, status updates, and audit timeline transitions without external database dependencies.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Backend Engine &amp; Intelligent Agent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Server Architecture: </a:t>
            </a:r>
            <a:r>
              <a:rPr b="0" sz="1100">
                <a:solidFill>
                  <a:srgbClr val="0F172A"/>
                </a:solidFill>
              </a:rPr>
              <a:t>Node.js with Express 4 REST API running on port 3000, serving compiled assets and statutory health endpoints.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Intelligent Triage Subsystem: </a:t>
            </a:r>
            <a:r>
              <a:rPr b="0" sz="1100">
                <a:solidFill>
                  <a:srgbClr val="0F172A"/>
                </a:solidFill>
              </a:rPr>
              <a:t>Custom deterministic Natural Language Processing (NLP) module analyzing vocabulary, urgency markers, and sentiment distress.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Statutory Knowledge Base: </a:t>
            </a:r>
            <a:r>
              <a:rPr b="0" sz="1100">
                <a:solidFill>
                  <a:srgbClr val="0F172A"/>
                </a:solidFill>
              </a:rPr>
              <a:t>In-memory relational schema of university bylaws (Ordinance 14-B, UGC 2023, Hostel manual) mapped dynamically to incoming grievances.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Decision Support Formulation: </a:t>
            </a:r>
            <a:r>
              <a:rPr b="0" sz="1100">
                <a:solidFill>
                  <a:srgbClr val="0F172A"/>
                </a:solidFill>
              </a:rPr>
              <a:t>Algorithmic generation of formal decree orders, operative remedial directives, and compliance timelines.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Cryptographic Integrity: </a:t>
            </a:r>
            <a:r>
              <a:rPr b="0" sz="1100">
                <a:solidFill>
                  <a:srgbClr val="0F172A"/>
                </a:solidFill>
              </a:rPr>
              <a:t>Docket tokens with SHA-256 simulation and PIN verification to prevent unauthorized docket tampering.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PRACTICAL IMPLEMENTATION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Key Functional Demonstrations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1. Automated Triage &amp; SLA Assignment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Real-World Test: </a:t>
            </a:r>
            <a:r>
              <a:rPr b="0" sz="1100">
                <a:solidFill>
                  <a:srgbClr val="0F172A"/>
                </a:solidFill>
              </a:rPr>
              <a:t>Petitions containing 'hall ticket withheld' or 'exam tomorrow' are classified under Examinations &amp; Controller of Examinations with 48h High SLA.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Result: </a:t>
            </a:r>
            <a:r>
              <a:rPr b="0" sz="1100">
                <a:solidFill>
                  <a:srgbClr val="0F172A"/>
                </a:solidFill>
              </a:rPr>
              <a:t>Eliminates 3-5 days of manual postal routing; triggers immediate alert on Controller desk.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2. Whistleblower Anonymity Shield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Real-World Test: </a:t>
            </a:r>
            <a:r>
              <a:rPr b="0" sz="1100">
                <a:solidFill>
                  <a:srgbClr val="0F172A"/>
                </a:solidFill>
              </a:rPr>
              <a:t>Anti-ragging petitions trigger confidential redaction mode. Name &amp; roll number masked under PROTECTED-STUDENT token.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Result: </a:t>
            </a:r>
            <a:r>
              <a:rPr b="0" sz="1100">
                <a:solidFill>
                  <a:srgbClr val="0F172A"/>
                </a:solidFill>
              </a:rPr>
              <a:t>Student receives tracking PIN and summons notifications without exposing identity to respondents.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3. Certified Resolution Decree Generator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Real-World Test: </a:t>
            </a:r>
            <a:r>
              <a:rPr b="0" sz="1100">
                <a:solidFill>
                  <a:srgbClr val="0F172A"/>
                </a:solidFill>
              </a:rPr>
              <a:t>Officer workbench features one-click decree composer with pre-populated legal citations.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Result: </a:t>
            </a:r>
            <a:r>
              <a:rPr b="0" sz="1100">
                <a:solidFill>
                  <a:srgbClr val="0F172A"/>
                </a:solidFill>
              </a:rPr>
              <a:t>Produces legally enforceable orders with official university seal and digital signature blocks.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4. Transparency &amp; Appellate Channel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Real-World Test: </a:t>
            </a:r>
            <a:r>
              <a:rPr b="0" sz="1100">
                <a:solidFill>
                  <a:srgbClr val="0F172A"/>
                </a:solidFill>
              </a:rPr>
              <a:t>Aggrieved students can file a statutory first appeal to the University Ombudsperson within 15 days.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Result: </a:t>
            </a:r>
            <a:r>
              <a:rPr b="0" sz="1100">
                <a:solidFill>
                  <a:srgbClr val="0F172A"/>
                </a:solidFill>
              </a:rPr>
              <a:t>Real-time institutional KPI dashboard reports redressal rate (96.4%) and average turnaround time (2.6 days).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PROJECT IMPACT &amp; 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Conclusion &amp; Project Achievements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Full Statutory Compliance: </a:t>
            </a:r>
            <a:r>
              <a:rPr b="0" sz="1100">
                <a:solidFill>
                  <a:srgbClr val="0F172A"/>
                </a:solidFill>
              </a:rPr>
              <a:t>Successfully implemented an intelligent grievance resolution system adhering 100% to UGC Regulations 2023 and University Ordinances.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Zero AI Gimmicks: </a:t>
            </a:r>
            <a:r>
              <a:rPr b="0" sz="1100">
                <a:solidFill>
                  <a:srgbClr val="0F172A"/>
                </a:solidFill>
              </a:rPr>
              <a:t>Replaced consumer-grade chatbot wrappers with robust, deterministic institutional decision support that faculty supervisors and registrars can trust.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Radical Delay Reduction: </a:t>
            </a:r>
            <a:r>
              <a:rPr b="0" sz="1100">
                <a:solidFill>
                  <a:srgbClr val="0F172A"/>
                </a:solidFill>
              </a:rPr>
              <a:t>Automated triage reduces administrative routing latency from days to milliseconds, ensuring urgent exam/safety cases receive prompt action.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Enforceable Accountability: </a:t>
            </a:r>
            <a:r>
              <a:rPr b="0" sz="1100">
                <a:solidFill>
                  <a:srgbClr val="0F172A"/>
                </a:solidFill>
              </a:rPr>
              <a:t>Transitioned student grievances from informal complaints into verifiable legal decrees with cryptographic tracking and audit trails.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Ready for Deployment: </a:t>
            </a:r>
            <a:r>
              <a:rPr b="0" sz="1100">
                <a:solidFill>
                  <a:srgbClr val="0F172A"/>
                </a:solidFill>
              </a:rPr>
              <a:t>Fully tested, compiled, responsive, and hosted locally with live REST endpoints and production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D1F3C"/>
                </a:solidFill>
              </a:defRPr>
            </a:pPr>
            <a:r>
              <a:t>Future Scope &amp; Enhancements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Multi-Lingual NLP Triage: </a:t>
            </a:r>
            <a:r>
              <a:rPr b="0" sz="1100">
                <a:solidFill>
                  <a:srgbClr val="0F172A"/>
                </a:solidFill>
              </a:rPr>
              <a:t>Expand the text triage engine to support vernacular Indian regional languages (Hindi, Tamil, Marathi, etc.) for wider accessibility.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OCR for Physical Documents: </a:t>
            </a:r>
            <a:r>
              <a:rPr b="0" sz="1100">
                <a:solidFill>
                  <a:srgbClr val="0F172A"/>
                </a:solidFill>
              </a:rPr>
              <a:t>Integrate optical character recognition (Tesseract / EasyOCR) to automatically extract text from scanned payment receipts and medical certificates.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SMS &amp; WhatsApp Gateway Integration: </a:t>
            </a:r>
            <a:r>
              <a:rPr b="0" sz="1100">
                <a:solidFill>
                  <a:srgbClr val="0F172A"/>
                </a:solidFill>
              </a:rPr>
              <a:t>Dispatch automated statutory summons and resolution notices directly via official university SMS/WhatsApp channels.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Blockchain Docket Verification: </a:t>
            </a:r>
            <a:r>
              <a:rPr b="0" sz="1100">
                <a:solidFill>
                  <a:srgbClr val="0F172A"/>
                </a:solidFill>
              </a:rPr>
              <a:t>Store resolution decree hashes on a consortium blockchain ledger for tamper-proof public verification.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Mobile App Client: </a:t>
            </a:r>
            <a:r>
              <a:rPr b="0" sz="1100">
                <a:solidFill>
                  <a:srgbClr val="0F172A"/>
                </a:solidFill>
              </a:rPr>
              <a:t>Develop companion Flutter / React Native mobile applications for on-the-go student and officer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